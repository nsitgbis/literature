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4" r:id="rId2"/>
    <p:sldId id="291" r:id="rId3"/>
    <p:sldId id="290" r:id="rId4"/>
    <p:sldId id="285" r:id="rId5"/>
    <p:sldId id="292" r:id="rId6"/>
    <p:sldId id="293" r:id="rId7"/>
    <p:sldId id="295" r:id="rId8"/>
    <p:sldId id="306" r:id="rId9"/>
    <p:sldId id="297" r:id="rId10"/>
    <p:sldId id="307" r:id="rId11"/>
    <p:sldId id="296" r:id="rId12"/>
    <p:sldId id="308" r:id="rId13"/>
    <p:sldId id="298" r:id="rId14"/>
    <p:sldId id="299" r:id="rId15"/>
    <p:sldId id="302" r:id="rId16"/>
    <p:sldId id="305" r:id="rId17"/>
    <p:sldId id="300" r:id="rId18"/>
    <p:sldId id="301" r:id="rId19"/>
    <p:sldId id="303" r:id="rId20"/>
    <p:sldId id="309" r:id="rId21"/>
    <p:sldId id="310" r:id="rId22"/>
    <p:sldId id="313" r:id="rId23"/>
    <p:sldId id="314" r:id="rId24"/>
    <p:sldId id="31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37FD3F-9E85-4F2E-B5B8-5685EDF61EA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7080E4-C0B8-4A96-82DE-AE7C15CBDEE3}">
      <dgm:prSet phldrT="[Text]"/>
      <dgm:spPr/>
      <dgm:t>
        <a:bodyPr/>
        <a:lstStyle/>
        <a:p>
          <a:r>
            <a:rPr lang="en-US" dirty="0" smtClean="0"/>
            <a:t>1 Exabyte</a:t>
          </a:r>
          <a:endParaRPr lang="en-US" dirty="0"/>
        </a:p>
      </dgm:t>
    </dgm:pt>
    <dgm:pt modelId="{0E0AEA1D-B615-4009-A635-EB76390C9E26}" type="parTrans" cxnId="{6E28B193-9220-4396-803A-5626D00A36CF}">
      <dgm:prSet/>
      <dgm:spPr/>
      <dgm:t>
        <a:bodyPr/>
        <a:lstStyle/>
        <a:p>
          <a:endParaRPr lang="en-US"/>
        </a:p>
      </dgm:t>
    </dgm:pt>
    <dgm:pt modelId="{1C2CEF9D-EAC8-443B-B70B-87BAB15EEEB1}" type="sibTrans" cxnId="{6E28B193-9220-4396-803A-5626D00A36CF}">
      <dgm:prSet/>
      <dgm:spPr/>
      <dgm:t>
        <a:bodyPr/>
        <a:lstStyle/>
        <a:p>
          <a:endParaRPr lang="en-US"/>
        </a:p>
      </dgm:t>
    </dgm:pt>
    <dgm:pt modelId="{4D748343-B014-465E-9EAD-BD3EA84C375C}">
      <dgm:prSet/>
      <dgm:spPr/>
      <dgm:t>
        <a:bodyPr/>
        <a:lstStyle/>
        <a:p>
          <a:r>
            <a:rPr lang="en-US" dirty="0" smtClean="0"/>
            <a:t>10^3 Petabytes</a:t>
          </a:r>
          <a:endParaRPr lang="en-US" dirty="0"/>
        </a:p>
      </dgm:t>
    </dgm:pt>
    <dgm:pt modelId="{598444C8-AA3A-4198-B05B-D999645AE77E}" type="parTrans" cxnId="{2CD0281B-2260-4A9A-A2E7-DDE6382801AF}">
      <dgm:prSet/>
      <dgm:spPr/>
      <dgm:t>
        <a:bodyPr/>
        <a:lstStyle/>
        <a:p>
          <a:endParaRPr lang="en-US"/>
        </a:p>
      </dgm:t>
    </dgm:pt>
    <dgm:pt modelId="{4F71240D-A02E-46D3-BE83-A951E17F1A4C}" type="sibTrans" cxnId="{2CD0281B-2260-4A9A-A2E7-DDE6382801AF}">
      <dgm:prSet/>
      <dgm:spPr/>
      <dgm:t>
        <a:bodyPr/>
        <a:lstStyle/>
        <a:p>
          <a:endParaRPr lang="en-US"/>
        </a:p>
      </dgm:t>
    </dgm:pt>
    <dgm:pt modelId="{63AF768B-2F45-4030-BABF-61DEE0F048B4}">
      <dgm:prSet/>
      <dgm:spPr/>
      <dgm:t>
        <a:bodyPr/>
        <a:lstStyle/>
        <a:p>
          <a:r>
            <a:rPr lang="en-US" smtClean="0"/>
            <a:t>10^9 Gigabytes</a:t>
          </a:r>
          <a:endParaRPr lang="en-US" dirty="0"/>
        </a:p>
      </dgm:t>
    </dgm:pt>
    <dgm:pt modelId="{003A80C3-1E2F-42AB-819A-AB46A0CA45AB}" type="parTrans" cxnId="{DF4FE182-428D-4FC3-B63E-5FFF274CF366}">
      <dgm:prSet/>
      <dgm:spPr/>
      <dgm:t>
        <a:bodyPr/>
        <a:lstStyle/>
        <a:p>
          <a:endParaRPr lang="en-US"/>
        </a:p>
      </dgm:t>
    </dgm:pt>
    <dgm:pt modelId="{2EDF4A78-1E81-4ECC-A465-96E418AC6030}" type="sibTrans" cxnId="{DF4FE182-428D-4FC3-B63E-5FFF274CF366}">
      <dgm:prSet/>
      <dgm:spPr/>
      <dgm:t>
        <a:bodyPr/>
        <a:lstStyle/>
        <a:p>
          <a:endParaRPr lang="en-US"/>
        </a:p>
      </dgm:t>
    </dgm:pt>
    <dgm:pt modelId="{48472C57-2156-463B-BB90-F617959C0BF0}" type="pres">
      <dgm:prSet presAssocID="{7A37FD3F-9E85-4F2E-B5B8-5685EDF61EA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39BFAD1-4885-49C5-B6A7-5BAAD69DD148}" type="pres">
      <dgm:prSet presAssocID="{137080E4-C0B8-4A96-82DE-AE7C15CBDEE3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F94FDE-B1B5-4F27-87D1-28385E70CFA2}" type="pres">
      <dgm:prSet presAssocID="{1C2CEF9D-EAC8-443B-B70B-87BAB15EEEB1}" presName="sibTrans" presStyleLbl="sibTrans2D1" presStyleIdx="0" presStyleCnt="2"/>
      <dgm:spPr/>
      <dgm:t>
        <a:bodyPr/>
        <a:lstStyle/>
        <a:p>
          <a:endParaRPr lang="en-US"/>
        </a:p>
      </dgm:t>
    </dgm:pt>
    <dgm:pt modelId="{F2498B7D-A2B2-4BEA-A63B-64A4826D9732}" type="pres">
      <dgm:prSet presAssocID="{1C2CEF9D-EAC8-443B-B70B-87BAB15EEEB1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79C1F0AF-5B76-4E97-B55F-02BE610F0263}" type="pres">
      <dgm:prSet presAssocID="{4D748343-B014-465E-9EAD-BD3EA84C375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A98F6F-F196-4105-B6FB-90ED4C20659A}" type="pres">
      <dgm:prSet presAssocID="{4F71240D-A02E-46D3-BE83-A951E17F1A4C}" presName="sibTrans" presStyleLbl="sibTrans2D1" presStyleIdx="1" presStyleCnt="2"/>
      <dgm:spPr/>
      <dgm:t>
        <a:bodyPr/>
        <a:lstStyle/>
        <a:p>
          <a:endParaRPr lang="en-US"/>
        </a:p>
      </dgm:t>
    </dgm:pt>
    <dgm:pt modelId="{4EBDD87A-A1BE-4A2B-9BE6-B29DF4638C09}" type="pres">
      <dgm:prSet presAssocID="{4F71240D-A02E-46D3-BE83-A951E17F1A4C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E6072E39-D210-4F04-874D-5D8991325D02}" type="pres">
      <dgm:prSet presAssocID="{63AF768B-2F45-4030-BABF-61DEE0F048B4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F479C5C-D6C4-4FEF-AA07-8EF057722DE2}" type="presOf" srcId="{4F71240D-A02E-46D3-BE83-A951E17F1A4C}" destId="{E7A98F6F-F196-4105-B6FB-90ED4C20659A}" srcOrd="0" destOrd="0" presId="urn:microsoft.com/office/officeart/2005/8/layout/process1"/>
    <dgm:cxn modelId="{416EFA71-D290-49B5-BCC8-BF866B543B3C}" type="presOf" srcId="{63AF768B-2F45-4030-BABF-61DEE0F048B4}" destId="{E6072E39-D210-4F04-874D-5D8991325D02}" srcOrd="0" destOrd="0" presId="urn:microsoft.com/office/officeart/2005/8/layout/process1"/>
    <dgm:cxn modelId="{DF4FE182-428D-4FC3-B63E-5FFF274CF366}" srcId="{7A37FD3F-9E85-4F2E-B5B8-5685EDF61EA6}" destId="{63AF768B-2F45-4030-BABF-61DEE0F048B4}" srcOrd="2" destOrd="0" parTransId="{003A80C3-1E2F-42AB-819A-AB46A0CA45AB}" sibTransId="{2EDF4A78-1E81-4ECC-A465-96E418AC6030}"/>
    <dgm:cxn modelId="{B7C84415-6496-4129-9CDB-BE563257420F}" type="presOf" srcId="{1C2CEF9D-EAC8-443B-B70B-87BAB15EEEB1}" destId="{DAF94FDE-B1B5-4F27-87D1-28385E70CFA2}" srcOrd="0" destOrd="0" presId="urn:microsoft.com/office/officeart/2005/8/layout/process1"/>
    <dgm:cxn modelId="{2CD0281B-2260-4A9A-A2E7-DDE6382801AF}" srcId="{7A37FD3F-9E85-4F2E-B5B8-5685EDF61EA6}" destId="{4D748343-B014-465E-9EAD-BD3EA84C375C}" srcOrd="1" destOrd="0" parTransId="{598444C8-AA3A-4198-B05B-D999645AE77E}" sibTransId="{4F71240D-A02E-46D3-BE83-A951E17F1A4C}"/>
    <dgm:cxn modelId="{4E55E1BE-E88B-4957-8321-3BD7E1F82ACA}" type="presOf" srcId="{1C2CEF9D-EAC8-443B-B70B-87BAB15EEEB1}" destId="{F2498B7D-A2B2-4BEA-A63B-64A4826D9732}" srcOrd="1" destOrd="0" presId="urn:microsoft.com/office/officeart/2005/8/layout/process1"/>
    <dgm:cxn modelId="{9C1852DF-274F-4CFB-A104-031450B7D1FD}" type="presOf" srcId="{137080E4-C0B8-4A96-82DE-AE7C15CBDEE3}" destId="{339BFAD1-4885-49C5-B6A7-5BAAD69DD148}" srcOrd="0" destOrd="0" presId="urn:microsoft.com/office/officeart/2005/8/layout/process1"/>
    <dgm:cxn modelId="{02DC2FAB-754C-4787-BA18-D44D58FDBE8B}" type="presOf" srcId="{4F71240D-A02E-46D3-BE83-A951E17F1A4C}" destId="{4EBDD87A-A1BE-4A2B-9BE6-B29DF4638C09}" srcOrd="1" destOrd="0" presId="urn:microsoft.com/office/officeart/2005/8/layout/process1"/>
    <dgm:cxn modelId="{6E28B193-9220-4396-803A-5626D00A36CF}" srcId="{7A37FD3F-9E85-4F2E-B5B8-5685EDF61EA6}" destId="{137080E4-C0B8-4A96-82DE-AE7C15CBDEE3}" srcOrd="0" destOrd="0" parTransId="{0E0AEA1D-B615-4009-A635-EB76390C9E26}" sibTransId="{1C2CEF9D-EAC8-443B-B70B-87BAB15EEEB1}"/>
    <dgm:cxn modelId="{6D9738F0-E28F-40AC-A5C3-860D7D474678}" type="presOf" srcId="{7A37FD3F-9E85-4F2E-B5B8-5685EDF61EA6}" destId="{48472C57-2156-463B-BB90-F617959C0BF0}" srcOrd="0" destOrd="0" presId="urn:microsoft.com/office/officeart/2005/8/layout/process1"/>
    <dgm:cxn modelId="{35B21154-F5EC-4062-8872-4011E8EACF59}" type="presOf" srcId="{4D748343-B014-465E-9EAD-BD3EA84C375C}" destId="{79C1F0AF-5B76-4E97-B55F-02BE610F0263}" srcOrd="0" destOrd="0" presId="urn:microsoft.com/office/officeart/2005/8/layout/process1"/>
    <dgm:cxn modelId="{29B33A0B-FE8C-4F82-98D8-4D43DB82D9BF}" type="presParOf" srcId="{48472C57-2156-463B-BB90-F617959C0BF0}" destId="{339BFAD1-4885-49C5-B6A7-5BAAD69DD148}" srcOrd="0" destOrd="0" presId="urn:microsoft.com/office/officeart/2005/8/layout/process1"/>
    <dgm:cxn modelId="{9820416F-BF32-45EE-93A0-6C67DFB58723}" type="presParOf" srcId="{48472C57-2156-463B-BB90-F617959C0BF0}" destId="{DAF94FDE-B1B5-4F27-87D1-28385E70CFA2}" srcOrd="1" destOrd="0" presId="urn:microsoft.com/office/officeart/2005/8/layout/process1"/>
    <dgm:cxn modelId="{D6EA5E8E-707B-4733-A744-1BBAF446F218}" type="presParOf" srcId="{DAF94FDE-B1B5-4F27-87D1-28385E70CFA2}" destId="{F2498B7D-A2B2-4BEA-A63B-64A4826D9732}" srcOrd="0" destOrd="0" presId="urn:microsoft.com/office/officeart/2005/8/layout/process1"/>
    <dgm:cxn modelId="{BA42D089-02FE-467A-A8FE-684B38DE74AF}" type="presParOf" srcId="{48472C57-2156-463B-BB90-F617959C0BF0}" destId="{79C1F0AF-5B76-4E97-B55F-02BE610F0263}" srcOrd="2" destOrd="0" presId="urn:microsoft.com/office/officeart/2005/8/layout/process1"/>
    <dgm:cxn modelId="{234FC82C-4E86-4CAC-BA22-469349AD58C6}" type="presParOf" srcId="{48472C57-2156-463B-BB90-F617959C0BF0}" destId="{E7A98F6F-F196-4105-B6FB-90ED4C20659A}" srcOrd="3" destOrd="0" presId="urn:microsoft.com/office/officeart/2005/8/layout/process1"/>
    <dgm:cxn modelId="{6DCDECC0-4E97-4A88-BF08-D409E2C627E5}" type="presParOf" srcId="{E7A98F6F-F196-4105-B6FB-90ED4C20659A}" destId="{4EBDD87A-A1BE-4A2B-9BE6-B29DF4638C09}" srcOrd="0" destOrd="0" presId="urn:microsoft.com/office/officeart/2005/8/layout/process1"/>
    <dgm:cxn modelId="{3A4D8E78-5736-4FF5-9E59-66C17CDF99EB}" type="presParOf" srcId="{48472C57-2156-463B-BB90-F617959C0BF0}" destId="{E6072E39-D210-4F04-874D-5D8991325D0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31112F-E3BF-4D13-B321-55327AF3B4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B5FB1C-C341-4F38-A8E6-05B6E90BCB5F}">
      <dgm:prSet phldrT="[Text]" custT="1"/>
      <dgm:spPr/>
      <dgm:t>
        <a:bodyPr/>
        <a:lstStyle/>
        <a:p>
          <a:r>
            <a:rPr lang="en-US" sz="3200" dirty="0" smtClean="0"/>
            <a:t>1 Gram of DNA = 455 Exabyte</a:t>
          </a:r>
          <a:endParaRPr lang="en-US" sz="3200" dirty="0"/>
        </a:p>
      </dgm:t>
    </dgm:pt>
    <dgm:pt modelId="{47FF3F4D-1005-40FC-A05C-303114FF4D3D}" type="parTrans" cxnId="{68F3FF03-E15E-4660-9C14-EADA0730CF71}">
      <dgm:prSet/>
      <dgm:spPr/>
      <dgm:t>
        <a:bodyPr/>
        <a:lstStyle/>
        <a:p>
          <a:endParaRPr lang="en-US"/>
        </a:p>
      </dgm:t>
    </dgm:pt>
    <dgm:pt modelId="{30D88BAE-9551-4854-A567-90C787E11B62}" type="sibTrans" cxnId="{68F3FF03-E15E-4660-9C14-EADA0730CF71}">
      <dgm:prSet/>
      <dgm:spPr/>
      <dgm:t>
        <a:bodyPr/>
        <a:lstStyle/>
        <a:p>
          <a:endParaRPr lang="en-US"/>
        </a:p>
      </dgm:t>
    </dgm:pt>
    <dgm:pt modelId="{7922BF29-FA6C-4EBE-A7CC-5EFC16E9AF6D}" type="pres">
      <dgm:prSet presAssocID="{8531112F-E3BF-4D13-B321-55327AF3B4A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48A2AE2-D3F7-4E87-97DD-2C5815D1BBBC}" type="pres">
      <dgm:prSet presAssocID="{47B5FB1C-C341-4F38-A8E6-05B6E90BCB5F}" presName="parentText" presStyleLbl="node1" presStyleIdx="0" presStyleCnt="1" custScaleY="53859" custLinFactNeighborX="-28055" custLinFactNeighborY="7321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BAE3A9C-FA7A-48D7-915B-D39E91DF2CB7}" type="presOf" srcId="{47B5FB1C-C341-4F38-A8E6-05B6E90BCB5F}" destId="{548A2AE2-D3F7-4E87-97DD-2C5815D1BBBC}" srcOrd="0" destOrd="0" presId="urn:microsoft.com/office/officeart/2005/8/layout/vList2"/>
    <dgm:cxn modelId="{68F3FF03-E15E-4660-9C14-EADA0730CF71}" srcId="{8531112F-E3BF-4D13-B321-55327AF3B4AD}" destId="{47B5FB1C-C341-4F38-A8E6-05B6E90BCB5F}" srcOrd="0" destOrd="0" parTransId="{47FF3F4D-1005-40FC-A05C-303114FF4D3D}" sibTransId="{30D88BAE-9551-4854-A567-90C787E11B62}"/>
    <dgm:cxn modelId="{F1E6A17C-5666-4D07-87E0-1CE010123B86}" type="presOf" srcId="{8531112F-E3BF-4D13-B321-55327AF3B4AD}" destId="{7922BF29-FA6C-4EBE-A7CC-5EFC16E9AF6D}" srcOrd="0" destOrd="0" presId="urn:microsoft.com/office/officeart/2005/8/layout/vList2"/>
    <dgm:cxn modelId="{DFDDAD69-20C4-4608-8BBD-1CB1EE8144D5}" type="presParOf" srcId="{7922BF29-FA6C-4EBE-A7CC-5EFC16E9AF6D}" destId="{548A2AE2-D3F7-4E87-97DD-2C5815D1BBB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531112F-E3BF-4D13-B321-55327AF3B4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B5FB1C-C341-4F38-A8E6-05B6E90BCB5F}">
      <dgm:prSet phldrT="[Text]" custT="1"/>
      <dgm:spPr/>
      <dgm:t>
        <a:bodyPr/>
        <a:lstStyle/>
        <a:p>
          <a:r>
            <a:rPr lang="en-US" sz="2000" b="1" i="0" dirty="0" smtClean="0"/>
            <a:t>World's Oldest Genome Sequenced From 700,000-Year-Old Horse DNA.</a:t>
          </a:r>
          <a:endParaRPr lang="en-US" sz="2000" dirty="0"/>
        </a:p>
      </dgm:t>
    </dgm:pt>
    <dgm:pt modelId="{47FF3F4D-1005-40FC-A05C-303114FF4D3D}" type="parTrans" cxnId="{68F3FF03-E15E-4660-9C14-EADA0730CF71}">
      <dgm:prSet/>
      <dgm:spPr/>
      <dgm:t>
        <a:bodyPr/>
        <a:lstStyle/>
        <a:p>
          <a:endParaRPr lang="en-US"/>
        </a:p>
      </dgm:t>
    </dgm:pt>
    <dgm:pt modelId="{30D88BAE-9551-4854-A567-90C787E11B62}" type="sibTrans" cxnId="{68F3FF03-E15E-4660-9C14-EADA0730CF71}">
      <dgm:prSet/>
      <dgm:spPr/>
      <dgm:t>
        <a:bodyPr/>
        <a:lstStyle/>
        <a:p>
          <a:endParaRPr lang="en-US"/>
        </a:p>
      </dgm:t>
    </dgm:pt>
    <dgm:pt modelId="{7922BF29-FA6C-4EBE-A7CC-5EFC16E9AF6D}" type="pres">
      <dgm:prSet presAssocID="{8531112F-E3BF-4D13-B321-55327AF3B4A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48A2AE2-D3F7-4E87-97DD-2C5815D1BBBC}" type="pres">
      <dgm:prSet presAssocID="{47B5FB1C-C341-4F38-A8E6-05B6E90BCB5F}" presName="parentText" presStyleLbl="node1" presStyleIdx="0" presStyleCnt="1" custScaleY="98895" custLinFactNeighborX="84584" custLinFactNeighborY="3543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F3FF03-E15E-4660-9C14-EADA0730CF71}" srcId="{8531112F-E3BF-4D13-B321-55327AF3B4AD}" destId="{47B5FB1C-C341-4F38-A8E6-05B6E90BCB5F}" srcOrd="0" destOrd="0" parTransId="{47FF3F4D-1005-40FC-A05C-303114FF4D3D}" sibTransId="{30D88BAE-9551-4854-A567-90C787E11B62}"/>
    <dgm:cxn modelId="{2A2B8D04-4F73-4FC4-B3C4-20E8C612BDC1}" type="presOf" srcId="{47B5FB1C-C341-4F38-A8E6-05B6E90BCB5F}" destId="{548A2AE2-D3F7-4E87-97DD-2C5815D1BBBC}" srcOrd="0" destOrd="0" presId="urn:microsoft.com/office/officeart/2005/8/layout/vList2"/>
    <dgm:cxn modelId="{86509424-A022-4807-BC16-0FB03BB36C20}" type="presOf" srcId="{8531112F-E3BF-4D13-B321-55327AF3B4AD}" destId="{7922BF29-FA6C-4EBE-A7CC-5EFC16E9AF6D}" srcOrd="0" destOrd="0" presId="urn:microsoft.com/office/officeart/2005/8/layout/vList2"/>
    <dgm:cxn modelId="{E27236A8-59C8-4344-9EBA-32CBE1A8905C}" type="presParOf" srcId="{7922BF29-FA6C-4EBE-A7CC-5EFC16E9AF6D}" destId="{548A2AE2-D3F7-4E87-97DD-2C5815D1BBB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BFAD1-4885-49C5-B6A7-5BAAD69DD148}">
      <dsp:nvSpPr>
        <dsp:cNvPr id="0" name=""/>
        <dsp:cNvSpPr/>
      </dsp:nvSpPr>
      <dsp:spPr>
        <a:xfrm>
          <a:off x="8285" y="1761700"/>
          <a:ext cx="2476411" cy="1485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1 Exabyte</a:t>
          </a:r>
          <a:endParaRPr lang="en-US" sz="3900" kern="1200" dirty="0"/>
        </a:p>
      </dsp:txBody>
      <dsp:txXfrm>
        <a:off x="51804" y="1805219"/>
        <a:ext cx="2389373" cy="1398808"/>
      </dsp:txXfrm>
    </dsp:sp>
    <dsp:sp modelId="{DAF94FDE-B1B5-4F27-87D1-28385E70CFA2}">
      <dsp:nvSpPr>
        <dsp:cNvPr id="0" name=""/>
        <dsp:cNvSpPr/>
      </dsp:nvSpPr>
      <dsp:spPr>
        <a:xfrm>
          <a:off x="2732337" y="2197548"/>
          <a:ext cx="524999" cy="614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600" kern="1200"/>
        </a:p>
      </dsp:txBody>
      <dsp:txXfrm>
        <a:off x="2732337" y="2320378"/>
        <a:ext cx="367499" cy="368490"/>
      </dsp:txXfrm>
    </dsp:sp>
    <dsp:sp modelId="{79C1F0AF-5B76-4E97-B55F-02BE610F0263}">
      <dsp:nvSpPr>
        <dsp:cNvPr id="0" name=""/>
        <dsp:cNvSpPr/>
      </dsp:nvSpPr>
      <dsp:spPr>
        <a:xfrm>
          <a:off x="3475261" y="1761700"/>
          <a:ext cx="2476411" cy="1485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10^3 Petabytes</a:t>
          </a:r>
          <a:endParaRPr lang="en-US" sz="3900" kern="1200" dirty="0"/>
        </a:p>
      </dsp:txBody>
      <dsp:txXfrm>
        <a:off x="3518780" y="1805219"/>
        <a:ext cx="2389373" cy="1398808"/>
      </dsp:txXfrm>
    </dsp:sp>
    <dsp:sp modelId="{E7A98F6F-F196-4105-B6FB-90ED4C20659A}">
      <dsp:nvSpPr>
        <dsp:cNvPr id="0" name=""/>
        <dsp:cNvSpPr/>
      </dsp:nvSpPr>
      <dsp:spPr>
        <a:xfrm>
          <a:off x="6199313" y="2197548"/>
          <a:ext cx="524999" cy="614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600" kern="1200"/>
        </a:p>
      </dsp:txBody>
      <dsp:txXfrm>
        <a:off x="6199313" y="2320378"/>
        <a:ext cx="367499" cy="368490"/>
      </dsp:txXfrm>
    </dsp:sp>
    <dsp:sp modelId="{E6072E39-D210-4F04-874D-5D8991325D02}">
      <dsp:nvSpPr>
        <dsp:cNvPr id="0" name=""/>
        <dsp:cNvSpPr/>
      </dsp:nvSpPr>
      <dsp:spPr>
        <a:xfrm>
          <a:off x="6942237" y="1761700"/>
          <a:ext cx="2476411" cy="1485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smtClean="0"/>
            <a:t>10^9 Gigabytes</a:t>
          </a:r>
          <a:endParaRPr lang="en-US" sz="3900" kern="1200" dirty="0"/>
        </a:p>
      </dsp:txBody>
      <dsp:txXfrm>
        <a:off x="6985756" y="1805219"/>
        <a:ext cx="2389373" cy="13988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A2AE2-D3F7-4E87-97DD-2C5815D1BBBC}">
      <dsp:nvSpPr>
        <dsp:cNvPr id="0" name=""/>
        <dsp:cNvSpPr/>
      </dsp:nvSpPr>
      <dsp:spPr>
        <a:xfrm>
          <a:off x="0" y="1769098"/>
          <a:ext cx="5696667" cy="6452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1 Gram of DNA = 455 Exabyte</a:t>
          </a:r>
          <a:endParaRPr lang="en-US" sz="3200" kern="1200" dirty="0"/>
        </a:p>
      </dsp:txBody>
      <dsp:txXfrm>
        <a:off x="31500" y="1800598"/>
        <a:ext cx="5633667" cy="5822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A2AE2-D3F7-4E87-97DD-2C5815D1BBBC}">
      <dsp:nvSpPr>
        <dsp:cNvPr id="0" name=""/>
        <dsp:cNvSpPr/>
      </dsp:nvSpPr>
      <dsp:spPr>
        <a:xfrm>
          <a:off x="0" y="834"/>
          <a:ext cx="8644393" cy="6988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i="0" kern="1200" dirty="0" smtClean="0"/>
            <a:t>World's Oldest Genome Sequenced From 700,000-Year-Old Horse DNA.</a:t>
          </a:r>
          <a:endParaRPr lang="en-US" sz="2000" kern="1200" dirty="0"/>
        </a:p>
      </dsp:txBody>
      <dsp:txXfrm>
        <a:off x="34116" y="34950"/>
        <a:ext cx="8576161" cy="6306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0B3AB-49FC-42E8-961E-5861A62F9E7F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CE3C8-1D30-4988-A99D-2DA39FD2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71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7130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2908-3639-451C-82E8-449123167008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2D454-B1DB-4800-AAC6-4FA55BF78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14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2908-3639-451C-82E8-449123167008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2D454-B1DB-4800-AAC6-4FA55BF78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13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2908-3639-451C-82E8-449123167008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2D454-B1DB-4800-AAC6-4FA55BF78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2908-3639-451C-82E8-449123167008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2D454-B1DB-4800-AAC6-4FA55BF78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00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2908-3639-451C-82E8-449123167008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2D454-B1DB-4800-AAC6-4FA55BF78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65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2908-3639-451C-82E8-449123167008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2D454-B1DB-4800-AAC6-4FA55BF78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11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2908-3639-451C-82E8-449123167008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2D454-B1DB-4800-AAC6-4FA55BF78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7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2908-3639-451C-82E8-449123167008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2D454-B1DB-4800-AAC6-4FA55BF78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5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2908-3639-451C-82E8-449123167008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2D454-B1DB-4800-AAC6-4FA55BF78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16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2908-3639-451C-82E8-449123167008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2D454-B1DB-4800-AAC6-4FA55BF78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43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02908-3639-451C-82E8-449123167008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2D454-B1DB-4800-AAC6-4FA55BF78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0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15601" y="593366"/>
            <a:ext cx="11360799" cy="763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15601" y="1536634"/>
            <a:ext cx="11360799" cy="4555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11296610" y="6217623"/>
            <a:ext cx="731599" cy="5246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97825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02908-3639-451C-82E8-449123167008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2D454-B1DB-4800-AAC6-4FA55BF78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51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.in/url?sa=i&amp;rct=j&amp;q=&amp;esrc=s&amp;source=images&amp;cd=&amp;cad=rja&amp;uact=8&amp;ved=0ahUKEwiO8dWFl5TQAhVJto8KHT8DCxsQjRwIBw&amp;url=http://www.tadakaluri.org/data-storage-types&amp;bvm=bv.137904068,d.c2I&amp;psig=AFQjCNEmXibONpaIAyxJUvYbcb84WFz0sw&amp;ust=1478523396117297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aily.com/releases/2013/05/130522085217.htm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hyperlink" Target="http://news.nationalgeographic.com/news/2013/06/130626-ancient-dna-oldest-sequenced-horse-paleontology-science/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news.nationalgeographic.com/news/2013/06/130626-ancient-dna-oldest-sequenced-horse-paleontology-science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anoporetech.com/products/minion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.in/url?sa=i&amp;rct=j&amp;q=&amp;esrc=s&amp;source=images&amp;cd=&amp;cad=rja&amp;uact=8&amp;ved=0ahUKEwjwkZvy05TQAhWIOI8KHRtjD6cQjRwIBw&amp;url=http://www.extremetech.com/extreme/134672-harvard-cracks-dna-storage-crams-700-terabytes-of-data-into-a-single-gram&amp;bvm=bv.137904068,d.c2I&amp;psig=AFQjCNEoNVVhOfTCBNpOOByF40F55gReqg&amp;ust=1478539738875821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washington.edu/people/faculty/luisceze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cvi.org/cms/press/press-releases/full-text/article/first-minimal-synthetic-bacterial-cell-designed-and-constructed-by-scientists-at-venter-institute-an/" TargetMode="External"/><Relationship Id="rId2" Type="http://schemas.openxmlformats.org/officeDocument/2006/relationships/hyperlink" Target="http://www.sony.net/SonyInfo/News/Press/201404/14-044E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0177" y="1053885"/>
            <a:ext cx="6400800" cy="271934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400" dirty="0" smtClean="0"/>
              <a:t>FUTURE  COMPUTING AND </a:t>
            </a:r>
          </a:p>
          <a:p>
            <a:pPr marL="0" indent="0" algn="ctr">
              <a:buNone/>
            </a:pPr>
            <a:r>
              <a:rPr lang="en-US" sz="5400" dirty="0" smtClean="0"/>
              <a:t>DNA HARD DRIVES</a:t>
            </a:r>
            <a:endParaRPr lang="en-US" sz="5400" dirty="0"/>
          </a:p>
        </p:txBody>
      </p:sp>
      <p:sp>
        <p:nvSpPr>
          <p:cNvPr id="5" name="TextBox 4"/>
          <p:cNvSpPr txBox="1"/>
          <p:nvPr/>
        </p:nvSpPr>
        <p:spPr>
          <a:xfrm>
            <a:off x="4806563" y="4604478"/>
            <a:ext cx="2608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Naman Malhotra</a:t>
            </a:r>
          </a:p>
          <a:p>
            <a:pPr algn="ctr"/>
            <a:r>
              <a:rPr lang="en-US" dirty="0" smtClean="0"/>
              <a:t>814/BT/14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83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Problem with Traditional Forms of Data Storage</a:t>
            </a:r>
            <a:endParaRPr lang="en-US" sz="4000" dirty="0"/>
          </a:p>
        </p:txBody>
      </p:sp>
      <p:pic>
        <p:nvPicPr>
          <p:cNvPr id="2050" name="Picture 2" descr="Image result for types of storage devic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111" y="1690688"/>
            <a:ext cx="4139847" cy="4139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8200" y="6122504"/>
            <a:ext cx="1868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hlinkClick r:id="rId3"/>
              </a:rPr>
              <a:t>Source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8202201" y="3153911"/>
            <a:ext cx="3009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AVG Capacity : 500</a:t>
            </a:r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252525"/>
                </a:solidFill>
                <a:latin typeface="Arial" panose="020B0604020202020204" pitchFamily="34" charset="0"/>
              </a:rPr>
              <a:t>Gbit</a:t>
            </a:r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</a:rPr>
              <a:t>/in</a:t>
            </a:r>
            <a:r>
              <a:rPr lang="en-US" baseline="30000" dirty="0">
                <a:solidFill>
                  <a:srgbClr val="252525"/>
                </a:solidFill>
                <a:latin typeface="Arial" panose="020B0604020202020204" pitchFamily="34" charset="0"/>
              </a:rPr>
              <a:t>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2637" y="2727067"/>
            <a:ext cx="318847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252525"/>
                </a:solidFill>
                <a:latin typeface="Arial" panose="020B0604020202020204" pitchFamily="34" charset="0"/>
              </a:rPr>
              <a:t>No longer adequate</a:t>
            </a:r>
          </a:p>
          <a:p>
            <a:r>
              <a:rPr lang="en-US" sz="2000" dirty="0" smtClean="0">
                <a:solidFill>
                  <a:srgbClr val="252525"/>
                </a:solidFill>
                <a:latin typeface="Arial" panose="020B0604020202020204" pitchFamily="34" charset="0"/>
              </a:rPr>
              <a:t>To meet the exponential </a:t>
            </a:r>
          </a:p>
          <a:p>
            <a:r>
              <a:rPr lang="en-US" sz="2000" dirty="0" smtClean="0">
                <a:solidFill>
                  <a:srgbClr val="252525"/>
                </a:solidFill>
                <a:latin typeface="Arial" panose="020B0604020202020204" pitchFamily="34" charset="0"/>
              </a:rPr>
              <a:t>Growth of data generated</a:t>
            </a:r>
          </a:p>
        </p:txBody>
      </p:sp>
    </p:spTree>
    <p:extLst>
      <p:ext uri="{BB962C8B-B14F-4D97-AF65-F5344CB8AC3E}">
        <p14:creationId xmlns:p14="http://schemas.microsoft.com/office/powerpoint/2010/main" val="3841038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07" y="45259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Why we need alternative form of DATA storage	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0980" y="2506662"/>
            <a:ext cx="452893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+mj-lt"/>
              </a:rPr>
              <a:t>90 percent of all the data in the world has been generated over the last two </a:t>
            </a:r>
            <a:r>
              <a:rPr lang="en-US" sz="4000" dirty="0" smtClean="0">
                <a:latin typeface="+mj-lt"/>
              </a:rPr>
              <a:t>years.</a:t>
            </a:r>
            <a:endParaRPr lang="en-US" sz="4000" dirty="0">
              <a:latin typeface="+mj-lt"/>
            </a:endParaRPr>
          </a:p>
        </p:txBody>
      </p:sp>
      <p:pic>
        <p:nvPicPr>
          <p:cNvPr id="1026" name="Picture 2" descr="Image result for growth of da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90917"/>
            <a:ext cx="4970007" cy="359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10980" y="6035040"/>
            <a:ext cx="2525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hlinkClick r:id="rId3"/>
              </a:rPr>
              <a:t>Source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3546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40904" y="3947287"/>
            <a:ext cx="110724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Nature 494, 77–80 (07 February 2013) doi:10.1038/nature11875 Received 15 May 2012; Accepted 12 December 2012; Published online 23 January 2013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2" name="Rectangle 1"/>
          <p:cNvSpPr/>
          <p:nvPr/>
        </p:nvSpPr>
        <p:spPr>
          <a:xfrm>
            <a:off x="940904" y="942395"/>
            <a:ext cx="101909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Towards practical, high-capacity, low-maintenance</a:t>
            </a:r>
          </a:p>
          <a:p>
            <a:r>
              <a:rPr lang="en-US" sz="3600" dirty="0"/>
              <a:t>information storage in synthesized DNA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9118" y="2657261"/>
            <a:ext cx="111159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Authors: Nick Goldman et al</a:t>
            </a:r>
            <a:r>
              <a:rPr lang="en-US" sz="3200" dirty="0"/>
              <a:t>. </a:t>
            </a:r>
            <a:r>
              <a:rPr lang="en-US" sz="3200" dirty="0" smtClean="0"/>
              <a:t>(European </a:t>
            </a:r>
            <a:r>
              <a:rPr lang="en-US" sz="3200" dirty="0"/>
              <a:t>Bioinformatics Institute)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368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Maximum Storage Density on </a:t>
            </a:r>
            <a:r>
              <a:rPr lang="en-US" dirty="0" smtClean="0"/>
              <a:t>today’s </a:t>
            </a:r>
            <a:r>
              <a:rPr lang="en-US" dirty="0"/>
              <a:t>devices </a:t>
            </a:r>
            <a:r>
              <a:rPr lang="en-US" dirty="0" smtClean="0"/>
              <a:t>as per august </a:t>
            </a:r>
            <a:r>
              <a:rPr lang="en-US" dirty="0"/>
              <a:t>8, </a:t>
            </a:r>
            <a:r>
              <a:rPr lang="en-US" dirty="0" smtClean="0"/>
              <a:t>2016 is </a:t>
            </a:r>
            <a:r>
              <a:rPr lang="en-US" dirty="0"/>
              <a:t>1 Terabyte per square inch while the projected data demand would be 8000 </a:t>
            </a:r>
            <a:r>
              <a:rPr lang="en-US" dirty="0" smtClean="0"/>
              <a:t>Exabyte </a:t>
            </a:r>
            <a:r>
              <a:rPr lang="en-US" dirty="0"/>
              <a:t>till </a:t>
            </a:r>
            <a:r>
              <a:rPr lang="en-US" dirty="0" smtClean="0"/>
              <a:t>2020.</a:t>
            </a:r>
          </a:p>
          <a:p>
            <a:endParaRPr lang="en-US" dirty="0"/>
          </a:p>
          <a:p>
            <a:r>
              <a:rPr lang="en-US" dirty="0"/>
              <a:t>The current Storage Technologies definitely are not competent enough to handle it efficiently and archive it for the distant future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For instance, the European Organization for Nuclear Research-CERN’s CASTOR (CERN Advanced </a:t>
            </a:r>
            <a:r>
              <a:rPr lang="en-US" dirty="0" smtClean="0"/>
              <a:t>Storage </a:t>
            </a:r>
            <a:r>
              <a:rPr lang="en-US" dirty="0"/>
              <a:t>manager) system stores 0.08 </a:t>
            </a:r>
            <a:r>
              <a:rPr lang="en-US" dirty="0" smtClean="0"/>
              <a:t>Exabyte </a:t>
            </a:r>
            <a:r>
              <a:rPr lang="en-US" dirty="0"/>
              <a:t>of Large Hadron Collider data and grows at 15 PB every year.</a:t>
            </a:r>
          </a:p>
        </p:txBody>
      </p:sp>
    </p:spTree>
    <p:extLst>
      <p:ext uri="{BB962C8B-B14F-4D97-AF65-F5344CB8AC3E}">
        <p14:creationId xmlns:p14="http://schemas.microsoft.com/office/powerpoint/2010/main" val="184306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Exabyte	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184478722"/>
              </p:ext>
            </p:extLst>
          </p:nvPr>
        </p:nvGraphicFramePr>
        <p:xfrm>
          <a:off x="838200" y="1200648"/>
          <a:ext cx="9426934" cy="5009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095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DNA as data 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972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Capacity </a:t>
            </a:r>
            <a:r>
              <a:rPr lang="en-US" dirty="0"/>
              <a:t>for </a:t>
            </a:r>
            <a:r>
              <a:rPr lang="en-US" dirty="0" smtClean="0"/>
              <a:t>high-density.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Durability under </a:t>
            </a:r>
            <a:r>
              <a:rPr lang="en-US" dirty="0"/>
              <a:t>easily achieved </a:t>
            </a:r>
            <a:r>
              <a:rPr lang="en-US" dirty="0" smtClean="0"/>
              <a:t>conditions.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r>
              <a:rPr lang="en-US" dirty="0"/>
              <a:t>Track record as an information </a:t>
            </a:r>
            <a:r>
              <a:rPr lang="en-US" dirty="0" smtClean="0"/>
              <a:t>bearer.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996394899"/>
              </p:ext>
            </p:extLst>
          </p:nvPr>
        </p:nvGraphicFramePr>
        <p:xfrm>
          <a:off x="2032001" y="719667"/>
          <a:ext cx="5696668" cy="2429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423158415"/>
              </p:ext>
            </p:extLst>
          </p:nvPr>
        </p:nvGraphicFramePr>
        <p:xfrm>
          <a:off x="2011680" y="3880237"/>
          <a:ext cx="8644393" cy="699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Rectangle 5"/>
          <p:cNvSpPr/>
          <p:nvPr/>
        </p:nvSpPr>
        <p:spPr>
          <a:xfrm>
            <a:off x="838200" y="6095428"/>
            <a:ext cx="10361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hlinkClick r:id="rId12"/>
              </a:rPr>
              <a:t>Source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7480850" y="3387458"/>
            <a:ext cx="3001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(University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of 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Copenhagen)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74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World’s Data in back of one vehicle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9121" y="1380351"/>
            <a:ext cx="7633757" cy="52033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561" y="6214347"/>
            <a:ext cx="824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951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DNA-based storage </a:t>
            </a:r>
            <a:r>
              <a:rPr lang="en-US" dirty="0" smtClean="0"/>
              <a:t>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645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Craig Venter </a:t>
            </a:r>
            <a:r>
              <a:rPr lang="en-US" dirty="0" smtClean="0"/>
              <a:t>Institute. (</a:t>
            </a:r>
            <a:r>
              <a:rPr lang="en-US" dirty="0" err="1" smtClean="0"/>
              <a:t>MaryLand</a:t>
            </a:r>
            <a:r>
              <a:rPr lang="en-US" dirty="0" smtClean="0"/>
              <a:t>, US) 2010</a:t>
            </a:r>
          </a:p>
          <a:p>
            <a:pPr lvl="1"/>
            <a:r>
              <a:rPr lang="en-US" dirty="0" smtClean="0"/>
              <a:t>In 2010  they were </a:t>
            </a:r>
            <a:r>
              <a:rPr lang="en-US" dirty="0"/>
              <a:t>able to encode a 7920-bit watermark in the </a:t>
            </a:r>
            <a:r>
              <a:rPr lang="en-US" dirty="0" smtClean="0"/>
              <a:t>genome of bacteria.</a:t>
            </a:r>
          </a:p>
          <a:p>
            <a:pPr lvl="1"/>
            <a:r>
              <a:rPr lang="en-US" dirty="0" smtClean="0"/>
              <a:t>First attempt to encode, such </a:t>
            </a:r>
            <a:r>
              <a:rPr lang="en-US" dirty="0"/>
              <a:t>a larger amount of information into </a:t>
            </a:r>
            <a:r>
              <a:rPr lang="en-US" dirty="0" smtClean="0"/>
              <a:t>DNA.</a:t>
            </a:r>
          </a:p>
          <a:p>
            <a:r>
              <a:rPr lang="en-US" dirty="0" smtClean="0"/>
              <a:t>Church et al (Harvard) 2011</a:t>
            </a:r>
          </a:p>
          <a:p>
            <a:pPr lvl="1"/>
            <a:r>
              <a:rPr lang="en-US" dirty="0" smtClean="0"/>
              <a:t>Recovered 643 Kb message.</a:t>
            </a:r>
          </a:p>
          <a:p>
            <a:pPr lvl="1"/>
            <a:r>
              <a:rPr lang="en-US" dirty="0"/>
              <a:t>A</a:t>
            </a:r>
            <a:r>
              <a:rPr lang="en-US" dirty="0" smtClean="0"/>
              <a:t>ssigned </a:t>
            </a:r>
            <a:r>
              <a:rPr lang="en-US" dirty="0"/>
              <a:t>0 as A or C </a:t>
            </a:r>
            <a:r>
              <a:rPr lang="en-US" dirty="0" smtClean="0"/>
              <a:t>and </a:t>
            </a:r>
            <a:r>
              <a:rPr lang="en-US" dirty="0"/>
              <a:t>1 as T or 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400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With Previous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Trivial amounts of information.</a:t>
            </a:r>
          </a:p>
          <a:p>
            <a:endParaRPr lang="en-US" dirty="0"/>
          </a:p>
          <a:p>
            <a:r>
              <a:rPr lang="en-US" dirty="0"/>
              <a:t>Not easily scalable.</a:t>
            </a:r>
          </a:p>
          <a:p>
            <a:endParaRPr lang="en-US" dirty="0"/>
          </a:p>
          <a:p>
            <a:r>
              <a:rPr lang="en-US" dirty="0"/>
              <a:t>No robust error-correction.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26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972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Hypothetical </a:t>
            </a:r>
            <a:r>
              <a:rPr lang="en-US" dirty="0"/>
              <a:t>long molecule encoded in </a:t>
            </a:r>
            <a:r>
              <a:rPr lang="en-US" dirty="0" smtClean="0"/>
              <a:t>vitro </a:t>
            </a:r>
            <a:r>
              <a:rPr lang="en-US" dirty="0"/>
              <a:t>using shorter DNA </a:t>
            </a:r>
            <a:r>
              <a:rPr lang="en-US" dirty="0" smtClean="0"/>
              <a:t>fragments.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Synthetic over living vectors.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Focus on Shorter fragments, as they </a:t>
            </a:r>
            <a:r>
              <a:rPr lang="en-US" dirty="0"/>
              <a:t>are easier to encode </a:t>
            </a:r>
            <a:r>
              <a:rPr lang="en-US" dirty="0" smtClean="0"/>
              <a:t>and manipulate.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95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Encoding </a:t>
            </a:r>
            <a:r>
              <a:rPr lang="en-US" sz="3600" dirty="0" smtClean="0"/>
              <a:t>Device</a:t>
            </a:r>
            <a:endParaRPr lang="en-US" sz="3600" dirty="0"/>
          </a:p>
        </p:txBody>
      </p:sp>
      <p:pic>
        <p:nvPicPr>
          <p:cNvPr id="5122" name="Picture 2" descr="Image result for dna synthesis machin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406" y="1775929"/>
            <a:ext cx="6126916" cy="465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515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Data Encoded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972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Five files: 757,051 bytes </a:t>
            </a:r>
            <a:r>
              <a:rPr lang="en-US" dirty="0" smtClean="0"/>
              <a:t>total :-</a:t>
            </a:r>
          </a:p>
          <a:p>
            <a:endParaRPr lang="en-US" dirty="0"/>
          </a:p>
          <a:p>
            <a:pPr lvl="1"/>
            <a:r>
              <a:rPr lang="en-US" dirty="0"/>
              <a:t>All 154 of Shakespeare's sonnets (ASCII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Classic scientific paper (PDF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Medium resolution color photo (JPEG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26-s excerpt from Martin Luther King's </a:t>
            </a:r>
            <a:r>
              <a:rPr lang="en-US" dirty="0" smtClean="0"/>
              <a:t>1963 </a:t>
            </a:r>
            <a:r>
              <a:rPr lang="en-US" dirty="0"/>
              <a:t>'I have a dream' speech (MP3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Huffman code used to convert bytes to </a:t>
            </a:r>
            <a:r>
              <a:rPr lang="en-US" dirty="0" smtClean="0"/>
              <a:t>base-3 </a:t>
            </a:r>
            <a:r>
              <a:rPr lang="en-US" dirty="0"/>
              <a:t>digits (ASCII)</a:t>
            </a:r>
          </a:p>
        </p:txBody>
      </p:sp>
    </p:spTree>
    <p:extLst>
      <p:ext uri="{BB962C8B-B14F-4D97-AF65-F5344CB8AC3E}">
        <p14:creationId xmlns:p14="http://schemas.microsoft.com/office/powerpoint/2010/main" val="429073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0263" y="0"/>
            <a:ext cx="9096291" cy="596152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49865" y="612733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153,335 </a:t>
            </a:r>
            <a:r>
              <a:rPr lang="en-US" dirty="0" smtClean="0"/>
              <a:t>strings </a:t>
            </a:r>
            <a:r>
              <a:rPr lang="en-US" dirty="0"/>
              <a:t>of DNA, each 117 nucleotides</a:t>
            </a:r>
          </a:p>
        </p:txBody>
      </p:sp>
    </p:spTree>
    <p:extLst>
      <p:ext uri="{BB962C8B-B14F-4D97-AF65-F5344CB8AC3E}">
        <p14:creationId xmlns:p14="http://schemas.microsoft.com/office/powerpoint/2010/main" val="416005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minion dna sequenc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051" y="1802970"/>
            <a:ext cx="609600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55467" y="604501"/>
            <a:ext cx="36404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/>
              <a:t>Decoding Device</a:t>
            </a:r>
            <a:endParaRPr lang="en-US" sz="4000" dirty="0"/>
          </a:p>
        </p:txBody>
      </p:sp>
      <p:sp>
        <p:nvSpPr>
          <p:cNvPr id="5" name="AutoShape 6" descr="Nanopore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84" name="Picture 12" descr="Image result for oxford nanopore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67" y="5430740"/>
            <a:ext cx="6234069" cy="1119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7583488" y="2264146"/>
            <a:ext cx="405874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Cost: $1000</a:t>
            </a:r>
          </a:p>
          <a:p>
            <a:r>
              <a:rPr lang="en-US" sz="3200" dirty="0" smtClean="0"/>
              <a:t>Time Required: 6 hours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6069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writing data into dn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425" y="52616"/>
            <a:ext cx="9561491" cy="618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902425" y="6392849"/>
            <a:ext cx="12205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Source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340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Decoding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972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Full length (117 </a:t>
            </a:r>
            <a:r>
              <a:rPr lang="en-US" dirty="0" err="1"/>
              <a:t>nt</a:t>
            </a:r>
            <a:r>
              <a:rPr lang="en-US" dirty="0"/>
              <a:t>) DNA strings </a:t>
            </a:r>
            <a:r>
              <a:rPr lang="en-US" dirty="0" smtClean="0"/>
              <a:t>reconstructed </a:t>
            </a:r>
            <a:r>
              <a:rPr lang="en-US" dirty="0"/>
              <a:t>in </a:t>
            </a:r>
            <a:r>
              <a:rPr lang="en-US" dirty="0" err="1" smtClean="0"/>
              <a:t>silico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Discarded the redundant strings.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DNA sequences representing all of the </a:t>
            </a:r>
            <a:r>
              <a:rPr lang="en-US" dirty="0" smtClean="0"/>
              <a:t>files </a:t>
            </a:r>
            <a:r>
              <a:rPr lang="en-US" dirty="0"/>
              <a:t>were then </a:t>
            </a:r>
            <a:r>
              <a:rPr lang="en-US" dirty="0" smtClean="0"/>
              <a:t>reconstructed using sophisticated computer software.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35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9709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 smtClean="0"/>
              <a:t>The Challenges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956" y="1920737"/>
            <a:ext cx="10515600" cy="435133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Difficulty in </a:t>
            </a:r>
            <a:r>
              <a:rPr lang="en-US" sz="3600" dirty="0"/>
              <a:t>synthesizing </a:t>
            </a:r>
            <a:r>
              <a:rPr lang="en-US" sz="3600" dirty="0" smtClean="0"/>
              <a:t>long </a:t>
            </a:r>
            <a:r>
              <a:rPr lang="en-US" sz="3600" dirty="0"/>
              <a:t>sequences of </a:t>
            </a:r>
            <a:r>
              <a:rPr lang="en-US" sz="3600" dirty="0" smtClean="0"/>
              <a:t>DNA.</a:t>
            </a:r>
          </a:p>
          <a:p>
            <a:pPr marL="0" indent="0">
              <a:buNone/>
            </a:pPr>
            <a:endParaRPr lang="en-US" sz="3600" dirty="0" smtClean="0"/>
          </a:p>
          <a:p>
            <a:r>
              <a:rPr lang="en-US" sz="3600" dirty="0" smtClean="0"/>
              <a:t>Cost of Writing the data into DNA is $11,000 / MB</a:t>
            </a:r>
          </a:p>
          <a:p>
            <a:endParaRPr lang="en-US" sz="3600" dirty="0"/>
          </a:p>
          <a:p>
            <a:r>
              <a:rPr lang="en-US" sz="3600" dirty="0" smtClean="0"/>
              <a:t>Absence of error correction enzymes.</a:t>
            </a:r>
          </a:p>
          <a:p>
            <a:pPr lvl="1"/>
            <a:r>
              <a:rPr lang="en-US" sz="3200" dirty="0" smtClean="0"/>
              <a:t>Currently Solved by introducing redundancy.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 smtClean="0"/>
          </a:p>
          <a:p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1366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3528" y="1610940"/>
            <a:ext cx="5115169" cy="43513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23661" y="373913"/>
            <a:ext cx="40333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/>
              <a:t>Scalability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2790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 out of 5 files were fully decoded without </a:t>
            </a:r>
            <a:r>
              <a:rPr lang="en-US" dirty="0" smtClean="0"/>
              <a:t>intervention.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Fifth </a:t>
            </a:r>
            <a:r>
              <a:rPr lang="en-US" dirty="0"/>
              <a:t>contained 2 gaps, 25 bases </a:t>
            </a:r>
            <a:r>
              <a:rPr lang="en-US" dirty="0" smtClean="0"/>
              <a:t>each.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Inspection </a:t>
            </a:r>
            <a:r>
              <a:rPr lang="en-US" dirty="0"/>
              <a:t>of neighboring regions allowed to hypothesize missing </a:t>
            </a:r>
            <a:r>
              <a:rPr lang="en-US" dirty="0" smtClean="0"/>
              <a:t>fragments.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After </a:t>
            </a:r>
            <a:r>
              <a:rPr lang="en-US" dirty="0"/>
              <a:t>manually inserting 50 bases, the original file had been reconstructed with 100% </a:t>
            </a:r>
            <a:r>
              <a:rPr lang="en-US" dirty="0" smtClean="0"/>
              <a:t>accuracy.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19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DNA would become a universal archival medium one day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Our technological </a:t>
            </a:r>
            <a:r>
              <a:rPr lang="en-US" dirty="0"/>
              <a:t>ineptness to unleash its full potential at present.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DNA in living cells have auto correction enzymes, no such artificial enzymes exist for artificial </a:t>
            </a:r>
            <a:r>
              <a:rPr lang="en-US" dirty="0" smtClean="0"/>
              <a:t>DNA.</a:t>
            </a:r>
          </a:p>
          <a:p>
            <a:endParaRPr lang="en-US" dirty="0"/>
          </a:p>
          <a:p>
            <a:r>
              <a:rPr lang="en-US" dirty="0"/>
              <a:t>Several breakthroughs will be required before it becomes commercially mainstream for data retrieval. </a:t>
            </a:r>
          </a:p>
        </p:txBody>
      </p:sp>
    </p:spTree>
    <p:extLst>
      <p:ext uri="{BB962C8B-B14F-4D97-AF65-F5344CB8AC3E}">
        <p14:creationId xmlns:p14="http://schemas.microsoft.com/office/powerpoint/2010/main" val="386832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 In progress.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Goldman et al. is working on, how to write data into DNA with minimum cost.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Team Lead by </a:t>
            </a:r>
            <a:r>
              <a:rPr lang="en-US" dirty="0">
                <a:hlinkClick r:id="rId2"/>
              </a:rPr>
              <a:t>Luis </a:t>
            </a:r>
            <a:r>
              <a:rPr lang="en-US" dirty="0" err="1">
                <a:hlinkClick r:id="rId2"/>
              </a:rPr>
              <a:t>Ceze</a:t>
            </a:r>
            <a:r>
              <a:rPr lang="en-US" dirty="0" smtClean="0"/>
              <a:t>, at Univ. of Washington.  Has </a:t>
            </a:r>
            <a:r>
              <a:rPr lang="en-US" dirty="0"/>
              <a:t>collaborated with Microsoft </a:t>
            </a:r>
            <a:r>
              <a:rPr lang="en-US" dirty="0" smtClean="0"/>
              <a:t>research.</a:t>
            </a:r>
          </a:p>
          <a:p>
            <a:pPr lvl="1"/>
            <a:r>
              <a:rPr lang="en-US" dirty="0" smtClean="0"/>
              <a:t>They are able to store 200MB of data.</a:t>
            </a:r>
          </a:p>
          <a:p>
            <a:pPr lvl="1"/>
            <a:r>
              <a:rPr lang="en-US" dirty="0" smtClean="0"/>
              <a:t>Understanding Error that crop up and how to deal with them. </a:t>
            </a:r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dirty="0"/>
              <a:t>Grass et al. recovered an 83kB message without </a:t>
            </a:r>
            <a:r>
              <a:rPr lang="en-US" dirty="0" smtClean="0"/>
              <a:t>error.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77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[1] N. Goldman, P. </a:t>
            </a:r>
            <a:r>
              <a:rPr lang="en-US" dirty="0" err="1"/>
              <a:t>Bertone</a:t>
            </a:r>
            <a:r>
              <a:rPr lang="en-US" dirty="0"/>
              <a:t>, S. Chen, C. </a:t>
            </a:r>
            <a:r>
              <a:rPr lang="en-US" dirty="0" err="1"/>
              <a:t>Dessimoz</a:t>
            </a:r>
            <a:r>
              <a:rPr lang="en-US" dirty="0"/>
              <a:t>, E. M. Le Proust, B. </a:t>
            </a:r>
            <a:r>
              <a:rPr lang="en-US" dirty="0" err="1"/>
              <a:t>Sipos</a:t>
            </a:r>
            <a:r>
              <a:rPr lang="en-US" dirty="0"/>
              <a:t>, and E. Birney, “Towards practical, high-capacity, </a:t>
            </a:r>
            <a:r>
              <a:rPr lang="en-US" dirty="0" err="1"/>
              <a:t>lowmaintenance</a:t>
            </a:r>
            <a:r>
              <a:rPr lang="en-US" dirty="0"/>
              <a:t> information storage in synthesized DNA,” Nature, vol. 494, no. 7435, pp. 77-80, 2013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[2] C. T. </a:t>
            </a:r>
            <a:r>
              <a:rPr lang="en-US" dirty="0" err="1"/>
              <a:t>Clelland</a:t>
            </a:r>
            <a:r>
              <a:rPr lang="en-US" dirty="0"/>
              <a:t>, et al., “Hiding messages in DNA microdots,” Nature, vol. 399, no. 1033, pp. 533–534, 1999. </a:t>
            </a:r>
          </a:p>
          <a:p>
            <a:r>
              <a:rPr lang="en-US" dirty="0"/>
              <a:t>[3] C. Bancroft, T. Bowler, B. Bloom, and C. T. </a:t>
            </a:r>
            <a:r>
              <a:rPr lang="en-US" dirty="0" err="1"/>
              <a:t>Clelland</a:t>
            </a:r>
            <a:r>
              <a:rPr lang="en-US" dirty="0"/>
              <a:t>, “</a:t>
            </a:r>
            <a:r>
              <a:rPr lang="en-US" dirty="0" err="1"/>
              <a:t>Longterm</a:t>
            </a:r>
            <a:r>
              <a:rPr lang="en-US" dirty="0"/>
              <a:t> storage of information in DNA,” Science, vol. 293, no. 5536, pp. 1763-1765, 2001.</a:t>
            </a:r>
          </a:p>
          <a:p>
            <a:r>
              <a:rPr lang="en-US" dirty="0"/>
              <a:t>[4] Church, G.M. et al. 2012. Next-generation digital information storage in DNA. Science. 337, 6102 (2012), 1628.</a:t>
            </a:r>
          </a:p>
          <a:p>
            <a:r>
              <a:rPr lang="en-US" dirty="0"/>
              <a:t>[5] Sony 2014. Sony develops magnetic tape technology with the world’s highest recording density. </a:t>
            </a:r>
            <a:r>
              <a:rPr lang="en-US" u="sng" dirty="0">
                <a:hlinkClick r:id="rId2"/>
              </a:rPr>
              <a:t>http://www.sony.net/SonyInfo/News/Press/201404/14-044E</a:t>
            </a:r>
            <a:r>
              <a:rPr lang="en-US" u="sng" dirty="0" smtClean="0">
                <a:hlinkClick r:id="rId2"/>
              </a:rPr>
              <a:t>/</a:t>
            </a:r>
            <a:endParaRPr lang="en-US" u="sng" dirty="0" smtClean="0"/>
          </a:p>
          <a:p>
            <a:r>
              <a:rPr lang="en-US" u="sng" dirty="0">
                <a:hlinkClick r:id="rId3"/>
              </a:rPr>
              <a:t>http://www.jcvi.org/cms/press/press-releases/full-text/article/first-minimal-synthetic-bacterial-cell-designed-and-constructed-by-scientists-at-venter-institute-an</a:t>
            </a:r>
            <a:r>
              <a:rPr lang="en-US" u="sng" dirty="0" smtClean="0">
                <a:hlinkClick r:id="rId3"/>
              </a:rPr>
              <a:t>/</a:t>
            </a:r>
            <a:r>
              <a:rPr lang="en-US" u="sng" dirty="0"/>
              <a:t> </a:t>
            </a:r>
            <a:r>
              <a:rPr lang="en-US" dirty="0"/>
              <a:t>- Craig Venter Institute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016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title"/>
          </p:nvPr>
        </p:nvSpPr>
        <p:spPr>
          <a:xfrm>
            <a:off x="1524000" y="594523"/>
            <a:ext cx="9144000" cy="703799"/>
          </a:xfrm>
          <a:prstGeom prst="rect">
            <a:avLst/>
          </a:prstGeom>
          <a:solidFill>
            <a:srgbClr val="00BEF2">
              <a:alpha val="5808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91425" tIns="91425" rIns="91425" bIns="91425" rtlCol="0" anchor="t" anchorCtr="0">
            <a:noAutofit/>
          </a:bodyPr>
          <a:lstStyle/>
          <a:p>
            <a:pPr algn="ctr"/>
            <a:r>
              <a:rPr lang="en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Thank You</a:t>
            </a:r>
            <a:endParaRPr lang="en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" name="Shape 114"/>
          <p:cNvSpPr txBox="1">
            <a:spLocks/>
          </p:cNvSpPr>
          <p:nvPr/>
        </p:nvSpPr>
        <p:spPr>
          <a:xfrm>
            <a:off x="1872018" y="2098183"/>
            <a:ext cx="8447964" cy="2684253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endParaRPr lang="en" sz="4000" dirty="0">
              <a:solidFill>
                <a:schemeClr val="accent5">
                  <a:lumMod val="60000"/>
                  <a:lumOff val="40000"/>
                </a:schemeClr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ctr"/>
            <a:r>
              <a:rPr lang="en" sz="4000" dirty="0">
                <a:solidFill>
                  <a:srgbClr val="00B0F0"/>
                </a:solidFill>
                <a:latin typeface="Raleway"/>
                <a:ea typeface="Raleway"/>
                <a:cs typeface="Raleway"/>
                <a:sym typeface="Raleway"/>
              </a:rPr>
              <a:t>Naman Malhotra</a:t>
            </a:r>
            <a:br>
              <a:rPr lang="en" sz="4000" dirty="0">
                <a:solidFill>
                  <a:srgbClr val="00B0F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4000" dirty="0">
                <a:solidFill>
                  <a:srgbClr val="00B0F0"/>
                </a:solidFill>
                <a:latin typeface="Raleway"/>
                <a:ea typeface="Raleway"/>
                <a:cs typeface="Raleway"/>
                <a:sym typeface="Raleway"/>
              </a:rPr>
              <a:t>814/BT/14</a:t>
            </a:r>
          </a:p>
          <a:p>
            <a:pPr algn="ctr"/>
            <a:r>
              <a:rPr lang="en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  <a:p>
            <a:pPr algn="ctr"/>
            <a:endParaRPr lang="en" sz="4000" dirty="0">
              <a:solidFill>
                <a:schemeClr val="accent5">
                  <a:lumMod val="60000"/>
                  <a:lumOff val="40000"/>
                </a:schemeClr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3580559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4121</TotalTime>
  <Words>853</Words>
  <Application>Microsoft Office PowerPoint</Application>
  <PresentationFormat>Widescreen</PresentationFormat>
  <Paragraphs>125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Georgia</vt:lpstr>
      <vt:lpstr>Raleway</vt:lpstr>
      <vt:lpstr>Office Theme</vt:lpstr>
      <vt:lpstr>PowerPoint Presentation</vt:lpstr>
      <vt:lpstr>Problem with Traditional Forms of Data Storage</vt:lpstr>
      <vt:lpstr>Why we need alternative form of DATA storage </vt:lpstr>
      <vt:lpstr>PowerPoint Presentation</vt:lpstr>
      <vt:lpstr>Introduction </vt:lpstr>
      <vt:lpstr>One Exabyte </vt:lpstr>
      <vt:lpstr>DNA as data Storage</vt:lpstr>
      <vt:lpstr>World’s Data in back of one vehicle </vt:lpstr>
      <vt:lpstr>Previous DNA-based storage approaches</vt:lpstr>
      <vt:lpstr>Problem With Previous Methods</vt:lpstr>
      <vt:lpstr>New Methods</vt:lpstr>
      <vt:lpstr>Encoding Device</vt:lpstr>
      <vt:lpstr>The Data Encoded</vt:lpstr>
      <vt:lpstr>PowerPoint Presentation</vt:lpstr>
      <vt:lpstr>PowerPoint Presentation</vt:lpstr>
      <vt:lpstr>PowerPoint Presentation</vt:lpstr>
      <vt:lpstr>Decoding Process</vt:lpstr>
      <vt:lpstr>The Challenges</vt:lpstr>
      <vt:lpstr>PowerPoint Presentation</vt:lpstr>
      <vt:lpstr>Results</vt:lpstr>
      <vt:lpstr>Conclusion</vt:lpstr>
      <vt:lpstr>Work In progress.</vt:lpstr>
      <vt:lpstr>References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DNA Self-Assembly and Computation Studied with a Coarse-grained Dynamic Bonded Model</dc:title>
  <dc:creator>Mi Mi</dc:creator>
  <cp:lastModifiedBy>Mi Mi</cp:lastModifiedBy>
  <cp:revision>76</cp:revision>
  <dcterms:created xsi:type="dcterms:W3CDTF">2016-10-06T06:04:12Z</dcterms:created>
  <dcterms:modified xsi:type="dcterms:W3CDTF">2016-11-07T06:09:43Z</dcterms:modified>
</cp:coreProperties>
</file>